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Lst>
  <p:notesMasterIdLst>
    <p:notesMasterId r:id="rId5"/>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notesMaster" Target="notesMasters/notesMaster1.xml"/><Relationship Id="rId6" Type="http://schemas.openxmlformats.org/officeDocument/2006/relationships/presProps" Target="presProps.xml"/><Relationship Id="rId7" Type="http://schemas.openxmlformats.org/officeDocument/2006/relationships/viewProps" Target="viewProps.xml"/><Relationship Id="rId8" Type="http://schemas.openxmlformats.org/officeDocument/2006/relationships/theme" Target="theme/theme1.xml"/><Relationship Id="rId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Keep this to 2 minutes.
OLTP powers apps. When a user signs up, places an order, or sends a message — those are OLTP writes. The DB is optimised for touching one row at a time, very fast, with many concurrent users.
OLAP is the other side: reading large volumes of data to answer questions like 'total revenue by region last quarter' or 'average session time per user cohort'. These queries scan millions of rows and aggregate them.
The storage model is the key difference. Row stores keep all columns of one row together — great for fetching a single record. Column stores keep all values of one column together — great for summing or averaging across every row, because you only read the columns you need.
Running OLAP queries on an OLTP database is like using a screwdriver as a hammer. It works, but slowly and painfully.
Transition: if OLTP systems are the wrong tool for analytics, what is the right one — and why did it take so long to have something lightweight?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'why now' slide. Tell the story of RAM and data diverging.
EARLY 2000s: servers had 2-8 GB of RAM. Companies were generating gigabytes and terabytes of log data, clickstream data, sensor data. It genuinely did not fit in memory. Hadoop and Spark were born to solve a real problem: spread the data and compute across many cheap machines.
TODAY: A standard cloud instance has 64-512 GB of RAM. It got dramatically cheaper. But the data that most companies actually query day to day — their analytics tables, ETL outputs, reporting datasets — is still 1-100 GB. It has not grown to petabytes for most teams.
The irony: the tooling (Spark, Redshift) scaled to handle petabytes, but most people are still running queries on data that now easily fits in a single machine's RAM. They are using a sledgehammer to crack a nut.
Pandas tried to fill this gap but it is single-threaded and loads everything into memory eagerly — it falls over around 2 GB.
DuckDB says: if the data fits in RAM or can be streamed efficiently, why spin up a cluster? Run it in-process, use columnar storage, vectorize the execution across all CPU cores.
Transition: that is the gap. Now what is DuckDB exactly?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Keep each card to one sentence, then move to your demo.
Definition: DuckDB is like SQLite but for analytics. SQLite embeds a relational DB in your process for OLTP. DuckDB embeds a columnar analytical engine for OLAP. Same zero-setup philosophy, completely different internals.
Columnar storage: if you run SELECT SUM(revenue) FROM sales, a row store reads every column of every row and throws most of it away. A column store reads only the revenue column. On 50M rows that is the difference between reading 2 GB and 200 MB.
Vectorized execution: instead of processing one row at a time, DuckDB processes 1024 rows at once using CPU vector instructions — the same approach that made MonetDB and then Snowflake fast.
Zero infra: the onboarding story is unbeatable. One pip install, one import, run SQL. Compare that to provisioning a Redshift cluster.
Reads everything: you can write SELECT * FROM read_parquet('s3://bucket/data.parquet') and it just works. No pipeline needed.
v1.0 in 2024 means it is production-stable, not a research project.
Transition: 'Now let me show you what I built on top of this...'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4F6F9"/>
        </a:solidFill>
      </p:bgPr>
    </p:bg>
    <p:spTree>
      <p:nvGrpSpPr>
        <p:cNvPr id="1" name=""/>
        <p:cNvGrpSpPr/>
        <p:nvPr/>
      </p:nvGrpSpPr>
      <p:grpSpPr>
        <a:xfrm>
          <a:off x="0" y="0"/>
          <a:ext cx="0" cy="0"/>
          <a:chOff x="0" y="0"/>
          <a:chExt cx="0" cy="0"/>
        </a:xfrm>
      </p:grpSpPr>
      <p:sp>
        <p:nvSpPr>
          <p:cNvPr id="2" name="Shape 0"/>
          <p:cNvSpPr/>
          <p:nvPr/>
        </p:nvSpPr>
        <p:spPr>
          <a:xfrm>
            <a:off x="457200" y="256032"/>
            <a:ext cx="1920240" cy="347472"/>
          </a:xfrm>
          <a:prstGeom prst="roundRect">
            <a:avLst>
              <a:gd name="adj" fmla="val 13158"/>
            </a:avLst>
          </a:prstGeom>
          <a:solidFill>
            <a:srgbClr val="00897B"/>
          </a:solidFill>
          <a:ln/>
        </p:spPr>
      </p:sp>
      <p:sp>
        <p:nvSpPr>
          <p:cNvPr id="3" name="Text 1"/>
          <p:cNvSpPr/>
          <p:nvPr/>
        </p:nvSpPr>
        <p:spPr>
          <a:xfrm>
            <a:off x="457200" y="256032"/>
            <a:ext cx="1920240" cy="347472"/>
          </a:xfrm>
          <a:prstGeom prst="rect">
            <a:avLst/>
          </a:prstGeom>
          <a:noFill/>
          <a:ln/>
        </p:spPr>
        <p:txBody>
          <a:bodyPr wrap="square" lIns="0" tIns="0" rIns="0" bIns="0" rtlCol="0" anchor="ctr"/>
          <a:lstStyle/>
          <a:p>
            <a:pPr algn="ctr" indent="0" marL="0">
              <a:buNone/>
            </a:pPr>
            <a:r>
              <a:rPr lang="en-US" sz="900" b="1" dirty="0">
                <a:solidFill>
                  <a:srgbClr val="FFFFFF"/>
                </a:solidFill>
              </a:rPr>
              <a:t>FUNDAMENTALS</a:t>
            </a:r>
            <a:endParaRPr lang="en-US" sz="900" dirty="0"/>
          </a:p>
        </p:txBody>
      </p:sp>
      <p:sp>
        <p:nvSpPr>
          <p:cNvPr id="4" name="Text 2"/>
          <p:cNvSpPr/>
          <p:nvPr/>
        </p:nvSpPr>
        <p:spPr>
          <a:xfrm>
            <a:off x="457200" y="713232"/>
            <a:ext cx="8229600" cy="685800"/>
          </a:xfrm>
          <a:prstGeom prst="rect">
            <a:avLst/>
          </a:prstGeom>
          <a:noFill/>
          <a:ln/>
        </p:spPr>
        <p:txBody>
          <a:bodyPr wrap="square" rtlCol="0" anchor="ctr"/>
          <a:lstStyle/>
          <a:p>
            <a:pPr indent="0" marL="0">
              <a:buNone/>
            </a:pPr>
            <a:r>
              <a:rPr lang="en-US" sz="3200" b="1" dirty="0">
                <a:solidFill>
                  <a:srgbClr val="1B2A4A"/>
                </a:solidFill>
                <a:latin typeface="Cambria" pitchFamily="34" charset="0"/>
                <a:ea typeface="Cambria" pitchFamily="34" charset="-122"/>
                <a:cs typeface="Cambria" pitchFamily="34" charset="-120"/>
              </a:rPr>
              <a:t>OLTP vs OLAP — Two Different Jobs</a:t>
            </a:r>
            <a:endParaRPr lang="en-US" sz="3200" dirty="0"/>
          </a:p>
        </p:txBody>
      </p:sp>
      <p:sp>
        <p:nvSpPr>
          <p:cNvPr id="5" name="Shape 3"/>
          <p:cNvSpPr/>
          <p:nvPr/>
        </p:nvSpPr>
        <p:spPr>
          <a:xfrm>
            <a:off x="365760" y="1508760"/>
            <a:ext cx="4023360" cy="438912"/>
          </a:xfrm>
          <a:prstGeom prst="roundRect">
            <a:avLst>
              <a:gd name="adj" fmla="val 14583"/>
            </a:avLst>
          </a:prstGeom>
          <a:solidFill>
            <a:srgbClr val="546E7A"/>
          </a:solidFill>
          <a:ln/>
        </p:spPr>
      </p:sp>
      <p:sp>
        <p:nvSpPr>
          <p:cNvPr id="6" name="Text 4"/>
          <p:cNvSpPr/>
          <p:nvPr/>
        </p:nvSpPr>
        <p:spPr>
          <a:xfrm>
            <a:off x="365760" y="1508760"/>
            <a:ext cx="4023360" cy="438912"/>
          </a:xfrm>
          <a:prstGeom prst="rect">
            <a:avLst/>
          </a:prstGeom>
          <a:noFill/>
          <a:ln/>
        </p:spPr>
        <p:txBody>
          <a:bodyPr wrap="square" lIns="0" tIns="0" rIns="0" bIns="0" rtlCol="0" anchor="ctr"/>
          <a:lstStyle/>
          <a:p>
            <a:pPr algn="ctr" indent="0" marL="0">
              <a:buNone/>
            </a:pPr>
            <a:r>
              <a:rPr lang="en-US" sz="1300" b="1" dirty="0">
                <a:solidFill>
                  <a:srgbClr val="FFFFFF"/>
                </a:solidFill>
              </a:rPr>
              <a:t>OLTP — Online Transaction Processing</a:t>
            </a:r>
            <a:endParaRPr lang="en-US" sz="1300" dirty="0"/>
          </a:p>
        </p:txBody>
      </p:sp>
      <p:sp>
        <p:nvSpPr>
          <p:cNvPr id="7" name="Shape 5"/>
          <p:cNvSpPr/>
          <p:nvPr/>
        </p:nvSpPr>
        <p:spPr>
          <a:xfrm>
            <a:off x="4754880" y="1508760"/>
            <a:ext cx="4023360" cy="438912"/>
          </a:xfrm>
          <a:prstGeom prst="roundRect">
            <a:avLst>
              <a:gd name="adj" fmla="val 14583"/>
            </a:avLst>
          </a:prstGeom>
          <a:solidFill>
            <a:srgbClr val="00897B"/>
          </a:solidFill>
          <a:ln/>
        </p:spPr>
      </p:sp>
      <p:sp>
        <p:nvSpPr>
          <p:cNvPr id="8" name="Text 6"/>
          <p:cNvSpPr/>
          <p:nvPr/>
        </p:nvSpPr>
        <p:spPr>
          <a:xfrm>
            <a:off x="4754880" y="1508760"/>
            <a:ext cx="4023360" cy="438912"/>
          </a:xfrm>
          <a:prstGeom prst="rect">
            <a:avLst/>
          </a:prstGeom>
          <a:noFill/>
          <a:ln/>
        </p:spPr>
        <p:txBody>
          <a:bodyPr wrap="square" lIns="0" tIns="0" rIns="0" bIns="0" rtlCol="0" anchor="ctr"/>
          <a:lstStyle/>
          <a:p>
            <a:pPr algn="ctr" indent="0" marL="0">
              <a:buNone/>
            </a:pPr>
            <a:r>
              <a:rPr lang="en-US" sz="1300" b="1" dirty="0">
                <a:solidFill>
                  <a:srgbClr val="FFFFFF"/>
                </a:solidFill>
              </a:rPr>
              <a:t>OLAP — Online Analytical Processing</a:t>
            </a:r>
            <a:endParaRPr lang="en-US" sz="1300" dirty="0"/>
          </a:p>
        </p:txBody>
      </p:sp>
      <p:sp>
        <p:nvSpPr>
          <p:cNvPr id="9" name="Shape 7"/>
          <p:cNvSpPr/>
          <p:nvPr/>
        </p:nvSpPr>
        <p:spPr>
          <a:xfrm>
            <a:off x="365760" y="2029968"/>
            <a:ext cx="8412480" cy="438912"/>
          </a:xfrm>
          <a:prstGeom prst="rect">
            <a:avLst/>
          </a:prstGeom>
          <a:solidFill>
            <a:srgbClr val="FFFFFF"/>
          </a:solidFill>
          <a:ln/>
        </p:spPr>
      </p:sp>
      <p:sp>
        <p:nvSpPr>
          <p:cNvPr id="10" name="Text 8"/>
          <p:cNvSpPr/>
          <p:nvPr/>
        </p:nvSpPr>
        <p:spPr>
          <a:xfrm>
            <a:off x="502920" y="2029968"/>
            <a:ext cx="1737360" cy="438912"/>
          </a:xfrm>
          <a:prstGeom prst="rect">
            <a:avLst/>
          </a:prstGeom>
          <a:noFill/>
          <a:ln/>
        </p:spPr>
        <p:txBody>
          <a:bodyPr wrap="square" rtlCol="0" anchor="ctr"/>
          <a:lstStyle/>
          <a:p>
            <a:pPr indent="0" marL="0">
              <a:buNone/>
            </a:pPr>
            <a:r>
              <a:rPr lang="en-US" sz="1200" b="1" dirty="0">
                <a:solidFill>
                  <a:srgbClr val="1B2A4A"/>
                </a:solidFill>
                <a:latin typeface="Calibri" pitchFamily="34" charset="0"/>
                <a:ea typeface="Calibri" pitchFamily="34" charset="-122"/>
                <a:cs typeface="Calibri" pitchFamily="34" charset="-120"/>
              </a:rPr>
              <a:t>Optimised for</a:t>
            </a:r>
            <a:endParaRPr lang="en-US" sz="1200" dirty="0"/>
          </a:p>
        </p:txBody>
      </p:sp>
      <p:sp>
        <p:nvSpPr>
          <p:cNvPr id="11" name="Text 9"/>
          <p:cNvSpPr/>
          <p:nvPr/>
        </p:nvSpPr>
        <p:spPr>
          <a:xfrm>
            <a:off x="2286000" y="2029968"/>
            <a:ext cx="2651760" cy="438912"/>
          </a:xfrm>
          <a:prstGeom prst="rect">
            <a:avLst/>
          </a:prstGeom>
          <a:noFill/>
          <a:ln/>
        </p:spPr>
        <p:txBody>
          <a:bodyPr wrap="square" rtlCol="0" anchor="ctr"/>
          <a:lstStyle/>
          <a:p>
            <a:pPr algn="ctr" indent="0" marL="0">
              <a:buNone/>
            </a:pPr>
            <a:r>
              <a:rPr lang="en-US" sz="1200" dirty="0">
                <a:solidFill>
                  <a:srgbClr val="546E7A"/>
                </a:solidFill>
                <a:latin typeface="Calibri" pitchFamily="34" charset="0"/>
                <a:ea typeface="Calibri" pitchFamily="34" charset="-122"/>
                <a:cs typeface="Calibri" pitchFamily="34" charset="-120"/>
              </a:rPr>
              <a:t>INSERT / UPDATE / DELETE</a:t>
            </a:r>
            <a:endParaRPr lang="en-US" sz="1200" dirty="0"/>
          </a:p>
        </p:txBody>
      </p:sp>
      <p:sp>
        <p:nvSpPr>
          <p:cNvPr id="12" name="Text 10"/>
          <p:cNvSpPr/>
          <p:nvPr/>
        </p:nvSpPr>
        <p:spPr>
          <a:xfrm>
            <a:off x="5074920" y="2029968"/>
            <a:ext cx="3657600" cy="438912"/>
          </a:xfrm>
          <a:prstGeom prst="rect">
            <a:avLst/>
          </a:prstGeom>
          <a:noFill/>
          <a:ln/>
        </p:spPr>
        <p:txBody>
          <a:bodyPr wrap="square" rtlCol="0" anchor="ctr"/>
          <a:lstStyle/>
          <a:p>
            <a:pPr algn="ctr" indent="0" marL="0">
              <a:buNone/>
            </a:pPr>
            <a:r>
              <a:rPr lang="en-US" sz="1200" b="1" dirty="0">
                <a:solidFill>
                  <a:srgbClr val="00897B"/>
                </a:solidFill>
                <a:latin typeface="Calibri" pitchFamily="34" charset="0"/>
                <a:ea typeface="Calibri" pitchFamily="34" charset="-122"/>
                <a:cs typeface="Calibri" pitchFamily="34" charset="-120"/>
              </a:rPr>
              <a:t>SELECT, GROUP BY, aggregations</a:t>
            </a:r>
            <a:endParaRPr lang="en-US" sz="1200" dirty="0"/>
          </a:p>
        </p:txBody>
      </p:sp>
      <p:sp>
        <p:nvSpPr>
          <p:cNvPr id="13" name="Shape 11"/>
          <p:cNvSpPr/>
          <p:nvPr/>
        </p:nvSpPr>
        <p:spPr>
          <a:xfrm>
            <a:off x="365760" y="2487168"/>
            <a:ext cx="8412480" cy="438912"/>
          </a:xfrm>
          <a:prstGeom prst="rect">
            <a:avLst/>
          </a:prstGeom>
          <a:solidFill>
            <a:srgbClr val="EAEFF4"/>
          </a:solidFill>
          <a:ln/>
        </p:spPr>
      </p:sp>
      <p:sp>
        <p:nvSpPr>
          <p:cNvPr id="14" name="Text 12"/>
          <p:cNvSpPr/>
          <p:nvPr/>
        </p:nvSpPr>
        <p:spPr>
          <a:xfrm>
            <a:off x="502920" y="2487168"/>
            <a:ext cx="1737360" cy="438912"/>
          </a:xfrm>
          <a:prstGeom prst="rect">
            <a:avLst/>
          </a:prstGeom>
          <a:noFill/>
          <a:ln/>
        </p:spPr>
        <p:txBody>
          <a:bodyPr wrap="square" rtlCol="0" anchor="ctr"/>
          <a:lstStyle/>
          <a:p>
            <a:pPr indent="0" marL="0">
              <a:buNone/>
            </a:pPr>
            <a:r>
              <a:rPr lang="en-US" sz="1200" b="1" dirty="0">
                <a:solidFill>
                  <a:srgbClr val="1B2A4A"/>
                </a:solidFill>
                <a:latin typeface="Calibri" pitchFamily="34" charset="0"/>
                <a:ea typeface="Calibri" pitchFamily="34" charset="-122"/>
                <a:cs typeface="Calibri" pitchFamily="34" charset="-120"/>
              </a:rPr>
              <a:t>Storage model</a:t>
            </a:r>
            <a:endParaRPr lang="en-US" sz="1200" dirty="0"/>
          </a:p>
        </p:txBody>
      </p:sp>
      <p:sp>
        <p:nvSpPr>
          <p:cNvPr id="15" name="Text 13"/>
          <p:cNvSpPr/>
          <p:nvPr/>
        </p:nvSpPr>
        <p:spPr>
          <a:xfrm>
            <a:off x="2286000" y="2487168"/>
            <a:ext cx="2651760" cy="438912"/>
          </a:xfrm>
          <a:prstGeom prst="rect">
            <a:avLst/>
          </a:prstGeom>
          <a:noFill/>
          <a:ln/>
        </p:spPr>
        <p:txBody>
          <a:bodyPr wrap="square" rtlCol="0" anchor="ctr"/>
          <a:lstStyle/>
          <a:p>
            <a:pPr algn="ctr" indent="0" marL="0">
              <a:buNone/>
            </a:pPr>
            <a:r>
              <a:rPr lang="en-US" sz="1200" dirty="0">
                <a:solidFill>
                  <a:srgbClr val="546E7A"/>
                </a:solidFill>
                <a:latin typeface="Calibri" pitchFamily="34" charset="0"/>
                <a:ea typeface="Calibri" pitchFamily="34" charset="-122"/>
                <a:cs typeface="Calibri" pitchFamily="34" charset="-120"/>
              </a:rPr>
              <a:t>Row-oriented</a:t>
            </a:r>
            <a:endParaRPr lang="en-US" sz="1200" dirty="0"/>
          </a:p>
        </p:txBody>
      </p:sp>
      <p:sp>
        <p:nvSpPr>
          <p:cNvPr id="16" name="Text 14"/>
          <p:cNvSpPr/>
          <p:nvPr/>
        </p:nvSpPr>
        <p:spPr>
          <a:xfrm>
            <a:off x="5074920" y="2487168"/>
            <a:ext cx="3657600" cy="438912"/>
          </a:xfrm>
          <a:prstGeom prst="rect">
            <a:avLst/>
          </a:prstGeom>
          <a:noFill/>
          <a:ln/>
        </p:spPr>
        <p:txBody>
          <a:bodyPr wrap="square" rtlCol="0" anchor="ctr"/>
          <a:lstStyle/>
          <a:p>
            <a:pPr algn="ctr" indent="0" marL="0">
              <a:buNone/>
            </a:pPr>
            <a:r>
              <a:rPr lang="en-US" sz="1200" b="1" dirty="0">
                <a:solidFill>
                  <a:srgbClr val="00897B"/>
                </a:solidFill>
                <a:latin typeface="Calibri" pitchFamily="34" charset="0"/>
                <a:ea typeface="Calibri" pitchFamily="34" charset="-122"/>
                <a:cs typeface="Calibri" pitchFamily="34" charset="-120"/>
              </a:rPr>
              <a:t>Columnar</a:t>
            </a:r>
            <a:endParaRPr lang="en-US" sz="1200" dirty="0"/>
          </a:p>
        </p:txBody>
      </p:sp>
      <p:sp>
        <p:nvSpPr>
          <p:cNvPr id="17" name="Shape 15"/>
          <p:cNvSpPr/>
          <p:nvPr/>
        </p:nvSpPr>
        <p:spPr>
          <a:xfrm>
            <a:off x="365760" y="2944368"/>
            <a:ext cx="8412480" cy="438912"/>
          </a:xfrm>
          <a:prstGeom prst="rect">
            <a:avLst/>
          </a:prstGeom>
          <a:solidFill>
            <a:srgbClr val="FFFFFF"/>
          </a:solidFill>
          <a:ln/>
        </p:spPr>
      </p:sp>
      <p:sp>
        <p:nvSpPr>
          <p:cNvPr id="18" name="Text 16"/>
          <p:cNvSpPr/>
          <p:nvPr/>
        </p:nvSpPr>
        <p:spPr>
          <a:xfrm>
            <a:off x="502920" y="2944368"/>
            <a:ext cx="1737360" cy="438912"/>
          </a:xfrm>
          <a:prstGeom prst="rect">
            <a:avLst/>
          </a:prstGeom>
          <a:noFill/>
          <a:ln/>
        </p:spPr>
        <p:txBody>
          <a:bodyPr wrap="square" rtlCol="0" anchor="ctr"/>
          <a:lstStyle/>
          <a:p>
            <a:pPr indent="0" marL="0">
              <a:buNone/>
            </a:pPr>
            <a:r>
              <a:rPr lang="en-US" sz="1200" b="1" dirty="0">
                <a:solidFill>
                  <a:srgbClr val="1B2A4A"/>
                </a:solidFill>
                <a:latin typeface="Calibri" pitchFamily="34" charset="0"/>
                <a:ea typeface="Calibri" pitchFamily="34" charset="-122"/>
                <a:cs typeface="Calibri" pitchFamily="34" charset="-120"/>
              </a:rPr>
              <a:t>Query pattern</a:t>
            </a:r>
            <a:endParaRPr lang="en-US" sz="1200" dirty="0"/>
          </a:p>
        </p:txBody>
      </p:sp>
      <p:sp>
        <p:nvSpPr>
          <p:cNvPr id="19" name="Text 17"/>
          <p:cNvSpPr/>
          <p:nvPr/>
        </p:nvSpPr>
        <p:spPr>
          <a:xfrm>
            <a:off x="2286000" y="2944368"/>
            <a:ext cx="2651760" cy="438912"/>
          </a:xfrm>
          <a:prstGeom prst="rect">
            <a:avLst/>
          </a:prstGeom>
          <a:noFill/>
          <a:ln/>
        </p:spPr>
        <p:txBody>
          <a:bodyPr wrap="square" rtlCol="0" anchor="ctr"/>
          <a:lstStyle/>
          <a:p>
            <a:pPr algn="ctr" indent="0" marL="0">
              <a:buNone/>
            </a:pPr>
            <a:r>
              <a:rPr lang="en-US" sz="1200" dirty="0">
                <a:solidFill>
                  <a:srgbClr val="546E7A"/>
                </a:solidFill>
                <a:latin typeface="Calibri" pitchFamily="34" charset="0"/>
                <a:ea typeface="Calibri" pitchFamily="34" charset="-122"/>
                <a:cs typeface="Calibri" pitchFamily="34" charset="-120"/>
              </a:rPr>
              <a:t>Fetch one row fast by ID</a:t>
            </a:r>
            <a:endParaRPr lang="en-US" sz="1200" dirty="0"/>
          </a:p>
        </p:txBody>
      </p:sp>
      <p:sp>
        <p:nvSpPr>
          <p:cNvPr id="20" name="Text 18"/>
          <p:cNvSpPr/>
          <p:nvPr/>
        </p:nvSpPr>
        <p:spPr>
          <a:xfrm>
            <a:off x="5074920" y="2944368"/>
            <a:ext cx="3657600" cy="438912"/>
          </a:xfrm>
          <a:prstGeom prst="rect">
            <a:avLst/>
          </a:prstGeom>
          <a:noFill/>
          <a:ln/>
        </p:spPr>
        <p:txBody>
          <a:bodyPr wrap="square" rtlCol="0" anchor="ctr"/>
          <a:lstStyle/>
          <a:p>
            <a:pPr algn="ctr" indent="0" marL="0">
              <a:buNone/>
            </a:pPr>
            <a:r>
              <a:rPr lang="en-US" sz="1200" b="1" dirty="0">
                <a:solidFill>
                  <a:srgbClr val="00897B"/>
                </a:solidFill>
                <a:latin typeface="Calibri" pitchFamily="34" charset="0"/>
                <a:ea typeface="Calibri" pitchFamily="34" charset="-122"/>
                <a:cs typeface="Calibri" pitchFamily="34" charset="-120"/>
              </a:rPr>
              <a:t>Scan millions of rows at once</a:t>
            </a:r>
            <a:endParaRPr lang="en-US" sz="1200" dirty="0"/>
          </a:p>
        </p:txBody>
      </p:sp>
      <p:sp>
        <p:nvSpPr>
          <p:cNvPr id="21" name="Shape 19"/>
          <p:cNvSpPr/>
          <p:nvPr/>
        </p:nvSpPr>
        <p:spPr>
          <a:xfrm>
            <a:off x="365760" y="3401568"/>
            <a:ext cx="8412480" cy="438912"/>
          </a:xfrm>
          <a:prstGeom prst="rect">
            <a:avLst/>
          </a:prstGeom>
          <a:solidFill>
            <a:srgbClr val="EAEFF4"/>
          </a:solidFill>
          <a:ln/>
        </p:spPr>
      </p:sp>
      <p:sp>
        <p:nvSpPr>
          <p:cNvPr id="22" name="Text 20"/>
          <p:cNvSpPr/>
          <p:nvPr/>
        </p:nvSpPr>
        <p:spPr>
          <a:xfrm>
            <a:off x="502920" y="3401568"/>
            <a:ext cx="1737360" cy="438912"/>
          </a:xfrm>
          <a:prstGeom prst="rect">
            <a:avLst/>
          </a:prstGeom>
          <a:noFill/>
          <a:ln/>
        </p:spPr>
        <p:txBody>
          <a:bodyPr wrap="square" rtlCol="0" anchor="ctr"/>
          <a:lstStyle/>
          <a:p>
            <a:pPr indent="0" marL="0">
              <a:buNone/>
            </a:pPr>
            <a:r>
              <a:rPr lang="en-US" sz="1200" b="1" dirty="0">
                <a:solidFill>
                  <a:srgbClr val="1B2A4A"/>
                </a:solidFill>
                <a:latin typeface="Calibri" pitchFamily="34" charset="0"/>
                <a:ea typeface="Calibri" pitchFamily="34" charset="-122"/>
                <a:cs typeface="Calibri" pitchFamily="34" charset="-120"/>
              </a:rPr>
              <a:t>Latency target</a:t>
            </a:r>
            <a:endParaRPr lang="en-US" sz="1200" dirty="0"/>
          </a:p>
        </p:txBody>
      </p:sp>
      <p:sp>
        <p:nvSpPr>
          <p:cNvPr id="23" name="Text 21"/>
          <p:cNvSpPr/>
          <p:nvPr/>
        </p:nvSpPr>
        <p:spPr>
          <a:xfrm>
            <a:off x="2286000" y="3401568"/>
            <a:ext cx="2651760" cy="438912"/>
          </a:xfrm>
          <a:prstGeom prst="rect">
            <a:avLst/>
          </a:prstGeom>
          <a:noFill/>
          <a:ln/>
        </p:spPr>
        <p:txBody>
          <a:bodyPr wrap="square" rtlCol="0" anchor="ctr"/>
          <a:lstStyle/>
          <a:p>
            <a:pPr algn="ctr" indent="0" marL="0">
              <a:buNone/>
            </a:pPr>
            <a:r>
              <a:rPr lang="en-US" sz="1200" dirty="0">
                <a:solidFill>
                  <a:srgbClr val="546E7A"/>
                </a:solidFill>
                <a:latin typeface="Calibri" pitchFamily="34" charset="0"/>
                <a:ea typeface="Calibri" pitchFamily="34" charset="-122"/>
                <a:cs typeface="Calibri" pitchFamily="34" charset="-120"/>
              </a:rPr>
              <a:t>Milliseconds per row</a:t>
            </a:r>
            <a:endParaRPr lang="en-US" sz="1200" dirty="0"/>
          </a:p>
        </p:txBody>
      </p:sp>
      <p:sp>
        <p:nvSpPr>
          <p:cNvPr id="24" name="Text 22"/>
          <p:cNvSpPr/>
          <p:nvPr/>
        </p:nvSpPr>
        <p:spPr>
          <a:xfrm>
            <a:off x="5074920" y="3401568"/>
            <a:ext cx="3657600" cy="438912"/>
          </a:xfrm>
          <a:prstGeom prst="rect">
            <a:avLst/>
          </a:prstGeom>
          <a:noFill/>
          <a:ln/>
        </p:spPr>
        <p:txBody>
          <a:bodyPr wrap="square" rtlCol="0" anchor="ctr"/>
          <a:lstStyle/>
          <a:p>
            <a:pPr algn="ctr" indent="0" marL="0">
              <a:buNone/>
            </a:pPr>
            <a:r>
              <a:rPr lang="en-US" sz="1200" b="1" dirty="0">
                <a:solidFill>
                  <a:srgbClr val="00897B"/>
                </a:solidFill>
                <a:latin typeface="Calibri" pitchFamily="34" charset="0"/>
                <a:ea typeface="Calibri" pitchFamily="34" charset="-122"/>
                <a:cs typeface="Calibri" pitchFamily="34" charset="-120"/>
              </a:rPr>
              <a:t>Seconds over huge datasets</a:t>
            </a:r>
            <a:endParaRPr lang="en-US" sz="1200" dirty="0"/>
          </a:p>
        </p:txBody>
      </p:sp>
      <p:sp>
        <p:nvSpPr>
          <p:cNvPr id="25" name="Shape 23"/>
          <p:cNvSpPr/>
          <p:nvPr/>
        </p:nvSpPr>
        <p:spPr>
          <a:xfrm>
            <a:off x="365760" y="3858768"/>
            <a:ext cx="8412480" cy="438912"/>
          </a:xfrm>
          <a:prstGeom prst="rect">
            <a:avLst/>
          </a:prstGeom>
          <a:solidFill>
            <a:srgbClr val="FFFFFF"/>
          </a:solidFill>
          <a:ln/>
        </p:spPr>
      </p:sp>
      <p:sp>
        <p:nvSpPr>
          <p:cNvPr id="26" name="Text 24"/>
          <p:cNvSpPr/>
          <p:nvPr/>
        </p:nvSpPr>
        <p:spPr>
          <a:xfrm>
            <a:off x="502920" y="3858768"/>
            <a:ext cx="1737360" cy="438912"/>
          </a:xfrm>
          <a:prstGeom prst="rect">
            <a:avLst/>
          </a:prstGeom>
          <a:noFill/>
          <a:ln/>
        </p:spPr>
        <p:txBody>
          <a:bodyPr wrap="square" rtlCol="0" anchor="ctr"/>
          <a:lstStyle/>
          <a:p>
            <a:pPr indent="0" marL="0">
              <a:buNone/>
            </a:pPr>
            <a:r>
              <a:rPr lang="en-US" sz="1200" b="1" dirty="0">
                <a:solidFill>
                  <a:srgbClr val="1B2A4A"/>
                </a:solidFill>
                <a:latin typeface="Calibri" pitchFamily="34" charset="0"/>
                <a:ea typeface="Calibri" pitchFamily="34" charset="-122"/>
                <a:cs typeface="Calibri" pitchFamily="34" charset="-120"/>
              </a:rPr>
              <a:t>Examples</a:t>
            </a:r>
            <a:endParaRPr lang="en-US" sz="1200" dirty="0"/>
          </a:p>
        </p:txBody>
      </p:sp>
      <p:sp>
        <p:nvSpPr>
          <p:cNvPr id="27" name="Text 25"/>
          <p:cNvSpPr/>
          <p:nvPr/>
        </p:nvSpPr>
        <p:spPr>
          <a:xfrm>
            <a:off x="2286000" y="3858768"/>
            <a:ext cx="2651760" cy="438912"/>
          </a:xfrm>
          <a:prstGeom prst="rect">
            <a:avLst/>
          </a:prstGeom>
          <a:noFill/>
          <a:ln/>
        </p:spPr>
        <p:txBody>
          <a:bodyPr wrap="square" rtlCol="0" anchor="ctr"/>
          <a:lstStyle/>
          <a:p>
            <a:pPr algn="ctr" indent="0" marL="0">
              <a:buNone/>
            </a:pPr>
            <a:r>
              <a:rPr lang="en-US" sz="1200" dirty="0">
                <a:solidFill>
                  <a:srgbClr val="546E7A"/>
                </a:solidFill>
                <a:latin typeface="Calibri" pitchFamily="34" charset="0"/>
                <a:ea typeface="Calibri" pitchFamily="34" charset="-122"/>
                <a:cs typeface="Calibri" pitchFamily="34" charset="-120"/>
              </a:rPr>
              <a:t>Postgres, MySQL, SQLite</a:t>
            </a:r>
            <a:endParaRPr lang="en-US" sz="1200" dirty="0"/>
          </a:p>
        </p:txBody>
      </p:sp>
      <p:sp>
        <p:nvSpPr>
          <p:cNvPr id="28" name="Text 26"/>
          <p:cNvSpPr/>
          <p:nvPr/>
        </p:nvSpPr>
        <p:spPr>
          <a:xfrm>
            <a:off x="5074920" y="3858768"/>
            <a:ext cx="3657600" cy="438912"/>
          </a:xfrm>
          <a:prstGeom prst="rect">
            <a:avLst/>
          </a:prstGeom>
          <a:noFill/>
          <a:ln/>
        </p:spPr>
        <p:txBody>
          <a:bodyPr wrap="square" rtlCol="0" anchor="ctr"/>
          <a:lstStyle/>
          <a:p>
            <a:pPr algn="ctr" indent="0" marL="0">
              <a:buNone/>
            </a:pPr>
            <a:r>
              <a:rPr lang="en-US" sz="1200" b="1" dirty="0">
                <a:solidFill>
                  <a:srgbClr val="00897B"/>
                </a:solidFill>
                <a:latin typeface="Calibri" pitchFamily="34" charset="0"/>
                <a:ea typeface="Calibri" pitchFamily="34" charset="-122"/>
                <a:cs typeface="Calibri" pitchFamily="34" charset="-120"/>
              </a:rPr>
              <a:t>DuckDB, Snowflake, BigQuery</a:t>
            </a:r>
            <a:endParaRPr lang="en-US" sz="1200" dirty="0"/>
          </a:p>
        </p:txBody>
      </p:sp>
      <p:sp>
        <p:nvSpPr>
          <p:cNvPr id="29" name="Shape 27"/>
          <p:cNvSpPr/>
          <p:nvPr/>
        </p:nvSpPr>
        <p:spPr>
          <a:xfrm>
            <a:off x="365760" y="4315968"/>
            <a:ext cx="8412480" cy="438912"/>
          </a:xfrm>
          <a:prstGeom prst="rect">
            <a:avLst/>
          </a:prstGeom>
          <a:solidFill>
            <a:srgbClr val="EAEFF4"/>
          </a:solidFill>
          <a:ln/>
        </p:spPr>
      </p:sp>
      <p:sp>
        <p:nvSpPr>
          <p:cNvPr id="30" name="Text 28"/>
          <p:cNvSpPr/>
          <p:nvPr/>
        </p:nvSpPr>
        <p:spPr>
          <a:xfrm>
            <a:off x="502920" y="4315968"/>
            <a:ext cx="1737360" cy="438912"/>
          </a:xfrm>
          <a:prstGeom prst="rect">
            <a:avLst/>
          </a:prstGeom>
          <a:noFill/>
          <a:ln/>
        </p:spPr>
        <p:txBody>
          <a:bodyPr wrap="square" rtlCol="0" anchor="ctr"/>
          <a:lstStyle/>
          <a:p>
            <a:pPr indent="0" marL="0">
              <a:buNone/>
            </a:pPr>
            <a:r>
              <a:rPr lang="en-US" sz="1200" b="1" dirty="0">
                <a:solidFill>
                  <a:srgbClr val="1B2A4A"/>
                </a:solidFill>
                <a:latin typeface="Calibri" pitchFamily="34" charset="0"/>
                <a:ea typeface="Calibri" pitchFamily="34" charset="-122"/>
                <a:cs typeface="Calibri" pitchFamily="34" charset="-120"/>
              </a:rPr>
              <a:t>Who uses it</a:t>
            </a:r>
            <a:endParaRPr lang="en-US" sz="1200" dirty="0"/>
          </a:p>
        </p:txBody>
      </p:sp>
      <p:sp>
        <p:nvSpPr>
          <p:cNvPr id="31" name="Text 29"/>
          <p:cNvSpPr/>
          <p:nvPr/>
        </p:nvSpPr>
        <p:spPr>
          <a:xfrm>
            <a:off x="2286000" y="4315968"/>
            <a:ext cx="2651760" cy="438912"/>
          </a:xfrm>
          <a:prstGeom prst="rect">
            <a:avLst/>
          </a:prstGeom>
          <a:noFill/>
          <a:ln/>
        </p:spPr>
        <p:txBody>
          <a:bodyPr wrap="square" rtlCol="0" anchor="ctr"/>
          <a:lstStyle/>
          <a:p>
            <a:pPr algn="ctr" indent="0" marL="0">
              <a:buNone/>
            </a:pPr>
            <a:r>
              <a:rPr lang="en-US" sz="1200" dirty="0">
                <a:solidFill>
                  <a:srgbClr val="546E7A"/>
                </a:solidFill>
                <a:latin typeface="Calibri" pitchFamily="34" charset="0"/>
                <a:ea typeface="Calibri" pitchFamily="34" charset="-122"/>
                <a:cs typeface="Calibri" pitchFamily="34" charset="-120"/>
              </a:rPr>
              <a:t>App backends, APIs</a:t>
            </a:r>
            <a:endParaRPr lang="en-US" sz="1200" dirty="0"/>
          </a:p>
        </p:txBody>
      </p:sp>
      <p:sp>
        <p:nvSpPr>
          <p:cNvPr id="32" name="Text 30"/>
          <p:cNvSpPr/>
          <p:nvPr/>
        </p:nvSpPr>
        <p:spPr>
          <a:xfrm>
            <a:off x="5074920" y="4315968"/>
            <a:ext cx="3657600" cy="438912"/>
          </a:xfrm>
          <a:prstGeom prst="rect">
            <a:avLst/>
          </a:prstGeom>
          <a:noFill/>
          <a:ln/>
        </p:spPr>
        <p:txBody>
          <a:bodyPr wrap="square" rtlCol="0" anchor="ctr"/>
          <a:lstStyle/>
          <a:p>
            <a:pPr algn="ctr" indent="0" marL="0">
              <a:buNone/>
            </a:pPr>
            <a:r>
              <a:rPr lang="en-US" sz="1200" b="1" dirty="0">
                <a:solidFill>
                  <a:srgbClr val="00897B"/>
                </a:solidFill>
                <a:latin typeface="Calibri" pitchFamily="34" charset="0"/>
                <a:ea typeface="Calibri" pitchFamily="34" charset="-122"/>
                <a:cs typeface="Calibri" pitchFamily="34" charset="-120"/>
              </a:rPr>
              <a:t>Data engineers, analysts</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1B2A4A"/>
        </a:solidFill>
      </p:bgPr>
    </p:bg>
    <p:spTree>
      <p:nvGrpSpPr>
        <p:cNvPr id="1" name=""/>
        <p:cNvGrpSpPr/>
        <p:nvPr/>
      </p:nvGrpSpPr>
      <p:grpSpPr>
        <a:xfrm>
          <a:off x="0" y="0"/>
          <a:ext cx="0" cy="0"/>
          <a:chOff x="0" y="0"/>
          <a:chExt cx="0" cy="0"/>
        </a:xfrm>
      </p:grpSpPr>
      <p:sp>
        <p:nvSpPr>
          <p:cNvPr id="2" name="Text 0"/>
          <p:cNvSpPr/>
          <p:nvPr/>
        </p:nvSpPr>
        <p:spPr>
          <a:xfrm>
            <a:off x="457200" y="457200"/>
            <a:ext cx="8229600" cy="594360"/>
          </a:xfrm>
          <a:prstGeom prst="rect">
            <a:avLst/>
          </a:prstGeom>
          <a:noFill/>
          <a:ln/>
        </p:spPr>
        <p:txBody>
          <a:bodyPr wrap="square" rtlCol="0" anchor="ctr"/>
          <a:lstStyle/>
          <a:p>
            <a:pPr indent="0" marL="0">
              <a:buNone/>
            </a:pPr>
            <a:r>
              <a:rPr lang="en-US" sz="2800" b="1" dirty="0">
                <a:solidFill>
                  <a:srgbClr val="FFFFFF"/>
                </a:solidFill>
                <a:latin typeface="Cambria" pitchFamily="34" charset="0"/>
                <a:ea typeface="Cambria" pitchFamily="34" charset="-122"/>
                <a:cs typeface="Cambria" pitchFamily="34" charset="-120"/>
              </a:rPr>
              <a:t>Why DuckDB Exists — A RAM and Data Story</a:t>
            </a:r>
            <a:endParaRPr lang="en-US" sz="2800" dirty="0"/>
          </a:p>
        </p:txBody>
      </p:sp>
      <p:sp>
        <p:nvSpPr>
          <p:cNvPr id="3" name="Shape 1"/>
          <p:cNvSpPr/>
          <p:nvPr/>
        </p:nvSpPr>
        <p:spPr>
          <a:xfrm>
            <a:off x="365760" y="1188720"/>
            <a:ext cx="4023360" cy="3611880"/>
          </a:xfrm>
          <a:prstGeom prst="roundRect">
            <a:avLst>
              <a:gd name="adj" fmla="val 2532"/>
            </a:avLst>
          </a:prstGeom>
          <a:solidFill>
            <a:srgbClr val="243B5E"/>
          </a:solidFill>
          <a:ln/>
          <a:effectLst>
            <a:outerShdw sx="100000" sy="100000" kx="0" ky="0" algn="bl" rotWithShape="0" blurRad="101600" dist="38100" dir="2700000">
              <a:srgbClr val="000000">
                <a:alpha val="12000"/>
              </a:srgbClr>
            </a:outerShdw>
          </a:effectLst>
        </p:spPr>
      </p:sp>
      <p:sp>
        <p:nvSpPr>
          <p:cNvPr id="4" name="Text 2"/>
          <p:cNvSpPr/>
          <p:nvPr/>
        </p:nvSpPr>
        <p:spPr>
          <a:xfrm>
            <a:off x="502920" y="1280160"/>
            <a:ext cx="3749040" cy="438912"/>
          </a:xfrm>
          <a:prstGeom prst="rect">
            <a:avLst/>
          </a:prstGeom>
          <a:noFill/>
          <a:ln/>
        </p:spPr>
        <p:txBody>
          <a:bodyPr wrap="square" rtlCol="0" anchor="ctr"/>
          <a:lstStyle/>
          <a:p>
            <a:pPr indent="0" marL="0">
              <a:buNone/>
            </a:pPr>
            <a:r>
              <a:rPr lang="en-US" sz="1300" b="1" dirty="0">
                <a:solidFill>
                  <a:srgbClr val="FFFFFF"/>
                </a:solidFill>
                <a:latin typeface="Cambria" pitchFamily="34" charset="0"/>
                <a:ea typeface="Cambria" pitchFamily="34" charset="-122"/>
                <a:cs typeface="Cambria" pitchFamily="34" charset="-120"/>
              </a:rPr>
              <a:t>Early 2000s — Big Data Era</a:t>
            </a:r>
            <a:endParaRPr lang="en-US" sz="1300" dirty="0"/>
          </a:p>
        </p:txBody>
      </p:sp>
      <p:sp>
        <p:nvSpPr>
          <p:cNvPr id="5" name="Text 3"/>
          <p:cNvSpPr/>
          <p:nvPr/>
        </p:nvSpPr>
        <p:spPr>
          <a:xfrm>
            <a:off x="502920" y="1755648"/>
            <a:ext cx="3749040" cy="2834640"/>
          </a:xfrm>
          <a:prstGeom prst="rect">
            <a:avLst/>
          </a:prstGeom>
          <a:noFill/>
          <a:ln/>
        </p:spPr>
        <p:txBody>
          <a:bodyPr wrap="square" rtlCol="0" anchor="ctr"/>
          <a:lstStyle/>
          <a:p>
            <a:pPr marL="342900" indent="-342900">
              <a:spcAft>
                <a:spcPts val="700"/>
              </a:spcAft>
              <a:buSzPct val="100000"/>
              <a:buChar char="•"/>
            </a:pPr>
            <a:r>
              <a:rPr lang="en-US" sz="1200" dirty="0">
                <a:solidFill>
                  <a:srgbClr val="FFFFFF"/>
                </a:solidFill>
                <a:latin typeface="Calibri" pitchFamily="34" charset="0"/>
                <a:ea typeface="Calibri" pitchFamily="34" charset="-122"/>
                <a:cs typeface="Calibri" pitchFamily="34" charset="-120"/>
              </a:rPr>
              <a:t>Average server RAM: 2-8 GB</a:t>
            </a:r>
            <a:endParaRPr lang="en-US" sz="1200" dirty="0"/>
          </a:p>
          <a:p>
            <a:pPr marL="342900" indent="-342900">
              <a:spcAft>
                <a:spcPts val="700"/>
              </a:spcAft>
              <a:buSzPct val="100000"/>
              <a:buChar char="•"/>
            </a:pPr>
            <a:r>
              <a:rPr lang="en-US" sz="1200" dirty="0">
                <a:solidFill>
                  <a:srgbClr val="FFFFFF"/>
                </a:solidFill>
                <a:latin typeface="Calibri" pitchFamily="34" charset="0"/>
                <a:ea typeface="Calibri" pitchFamily="34" charset="-122"/>
                <a:cs typeface="Calibri" pitchFamily="34" charset="-120"/>
              </a:rPr>
              <a:t>Data warehouses needed dedicated clusters (Hadoop, Teradata)</a:t>
            </a:r>
            <a:endParaRPr lang="en-US" sz="1200" dirty="0"/>
          </a:p>
          <a:p>
            <a:pPr marL="342900" indent="-342900">
              <a:spcAft>
                <a:spcPts val="700"/>
              </a:spcAft>
              <a:buSzPct val="100000"/>
              <a:buChar char="•"/>
            </a:pPr>
            <a:r>
              <a:rPr lang="en-US" sz="1200" dirty="0">
                <a:solidFill>
                  <a:srgbClr val="FFFFFF"/>
                </a:solidFill>
                <a:latin typeface="Calibri" pitchFamily="34" charset="0"/>
                <a:ea typeface="Calibri" pitchFamily="34" charset="-122"/>
                <a:cs typeface="Calibri" pitchFamily="34" charset="-120"/>
              </a:rPr>
              <a:t>Spark emerged to distribute work across many machines</a:t>
            </a:r>
            <a:endParaRPr lang="en-US" sz="1200" dirty="0"/>
          </a:p>
          <a:p>
            <a:pPr marL="342900" indent="-342900">
              <a:spcAft>
                <a:spcPts val="700"/>
              </a:spcAft>
              <a:buSzPct val="100000"/>
              <a:buChar char="•"/>
            </a:pPr>
            <a:r>
              <a:rPr lang="en-US" sz="1200" dirty="0">
                <a:solidFill>
                  <a:srgbClr val="FFFFFF"/>
                </a:solidFill>
                <a:latin typeface="Calibri" pitchFamily="34" charset="0"/>
                <a:ea typeface="Calibri" pitchFamily="34" charset="-122"/>
                <a:cs typeface="Calibri" pitchFamily="34" charset="-120"/>
              </a:rPr>
              <a:t>Even moderate data would not fit in memory</a:t>
            </a:r>
            <a:endParaRPr lang="en-US" sz="1200" dirty="0"/>
          </a:p>
          <a:p>
            <a:pPr marL="342900" indent="-342900">
              <a:spcAft>
                <a:spcPts val="700"/>
              </a:spcAft>
              <a:buSzPct val="100000"/>
              <a:buChar char="•"/>
            </a:pPr>
            <a:r>
              <a:rPr lang="en-US" sz="1200" dirty="0">
                <a:solidFill>
                  <a:srgbClr val="FFFFFF"/>
                </a:solidFill>
                <a:latin typeface="Calibri" pitchFamily="34" charset="0"/>
                <a:ea typeface="Calibri" pitchFamily="34" charset="-122"/>
                <a:cs typeface="Calibri" pitchFamily="34" charset="-120"/>
              </a:rPr>
              <a:t>Solution: distribute everything across nodes</a:t>
            </a:r>
            <a:endParaRPr lang="en-US" sz="1200" dirty="0"/>
          </a:p>
        </p:txBody>
      </p:sp>
      <p:sp>
        <p:nvSpPr>
          <p:cNvPr id="6" name="Shape 4"/>
          <p:cNvSpPr/>
          <p:nvPr/>
        </p:nvSpPr>
        <p:spPr>
          <a:xfrm>
            <a:off x="4754880" y="1188720"/>
            <a:ext cx="4023360" cy="3611880"/>
          </a:xfrm>
          <a:prstGeom prst="roundRect">
            <a:avLst>
              <a:gd name="adj" fmla="val 2532"/>
            </a:avLst>
          </a:prstGeom>
          <a:solidFill>
            <a:srgbClr val="00897B"/>
          </a:solidFill>
          <a:ln/>
          <a:effectLst>
            <a:outerShdw sx="100000" sy="100000" kx="0" ky="0" algn="bl" rotWithShape="0" blurRad="101600" dist="38100" dir="2700000">
              <a:srgbClr val="000000">
                <a:alpha val="12000"/>
              </a:srgbClr>
            </a:outerShdw>
          </a:effectLst>
        </p:spPr>
      </p:sp>
      <p:sp>
        <p:nvSpPr>
          <p:cNvPr id="7" name="Text 5"/>
          <p:cNvSpPr/>
          <p:nvPr/>
        </p:nvSpPr>
        <p:spPr>
          <a:xfrm>
            <a:off x="4892040" y="1280160"/>
            <a:ext cx="3749040" cy="438912"/>
          </a:xfrm>
          <a:prstGeom prst="rect">
            <a:avLst/>
          </a:prstGeom>
          <a:noFill/>
          <a:ln/>
        </p:spPr>
        <p:txBody>
          <a:bodyPr wrap="square" rtlCol="0" anchor="ctr"/>
          <a:lstStyle/>
          <a:p>
            <a:pPr indent="0" marL="0">
              <a:buNone/>
            </a:pPr>
            <a:r>
              <a:rPr lang="en-US" sz="1300" b="1" dirty="0">
                <a:solidFill>
                  <a:srgbClr val="FFFFFF"/>
                </a:solidFill>
                <a:latin typeface="Cambria" pitchFamily="34" charset="0"/>
                <a:ea typeface="Cambria" pitchFamily="34" charset="-122"/>
                <a:cs typeface="Cambria" pitchFamily="34" charset="-120"/>
              </a:rPr>
              <a:t>Today — The Middle Ground Problem</a:t>
            </a:r>
            <a:endParaRPr lang="en-US" sz="1300" dirty="0"/>
          </a:p>
        </p:txBody>
      </p:sp>
      <p:sp>
        <p:nvSpPr>
          <p:cNvPr id="8" name="Text 6"/>
          <p:cNvSpPr/>
          <p:nvPr/>
        </p:nvSpPr>
        <p:spPr>
          <a:xfrm>
            <a:off x="4892040" y="1755648"/>
            <a:ext cx="3749040" cy="2834640"/>
          </a:xfrm>
          <a:prstGeom prst="rect">
            <a:avLst/>
          </a:prstGeom>
          <a:noFill/>
          <a:ln/>
        </p:spPr>
        <p:txBody>
          <a:bodyPr wrap="square" rtlCol="0" anchor="ctr"/>
          <a:lstStyle/>
          <a:p>
            <a:pPr marL="342900" indent="-342900">
              <a:spcAft>
                <a:spcPts val="700"/>
              </a:spcAft>
              <a:buSzPct val="100000"/>
              <a:buChar char="•"/>
            </a:pPr>
            <a:r>
              <a:rPr lang="en-US" sz="1200" dirty="0">
                <a:solidFill>
                  <a:srgbClr val="FFFFFF"/>
                </a:solidFill>
                <a:latin typeface="Calibri" pitchFamily="34" charset="0"/>
                <a:ea typeface="Calibri" pitchFamily="34" charset="-122"/>
                <a:cs typeface="Calibri" pitchFamily="34" charset="-120"/>
              </a:rPr>
              <a:t>Average server RAM: 64-512 GB (commodity cloud instances)</a:t>
            </a:r>
            <a:endParaRPr lang="en-US" sz="1200" dirty="0"/>
          </a:p>
          <a:p>
            <a:pPr marL="342900" indent="-342900">
              <a:spcAft>
                <a:spcPts val="700"/>
              </a:spcAft>
              <a:buSzPct val="100000"/>
              <a:buChar char="•"/>
            </a:pPr>
            <a:r>
              <a:rPr lang="en-US" sz="1200" dirty="0">
                <a:solidFill>
                  <a:srgbClr val="FFFFFF"/>
                </a:solidFill>
                <a:latin typeface="Calibri" pitchFamily="34" charset="0"/>
                <a:ea typeface="Calibri" pitchFamily="34" charset="-122"/>
                <a:cs typeface="Calibri" pitchFamily="34" charset="-120"/>
              </a:rPr>
              <a:t>Data a typical company actually queries: 1-100 GB</a:t>
            </a:r>
            <a:endParaRPr lang="en-US" sz="1200" dirty="0"/>
          </a:p>
          <a:p>
            <a:pPr marL="342900" indent="-342900">
              <a:spcAft>
                <a:spcPts val="700"/>
              </a:spcAft>
              <a:buSzPct val="100000"/>
              <a:buChar char="•"/>
            </a:pPr>
            <a:r>
              <a:rPr lang="en-US" sz="1200" dirty="0">
                <a:solidFill>
                  <a:srgbClr val="FFFFFF"/>
                </a:solidFill>
                <a:latin typeface="Calibri" pitchFamily="34" charset="0"/>
                <a:ea typeface="Calibri" pitchFamily="34" charset="-122"/>
                <a:cs typeface="Calibri" pitchFamily="34" charset="-120"/>
              </a:rPr>
              <a:t>Spark / Redshift are massive overkill for this range</a:t>
            </a:r>
            <a:endParaRPr lang="en-US" sz="1200" dirty="0"/>
          </a:p>
          <a:p>
            <a:pPr marL="342900" indent="-342900">
              <a:spcAft>
                <a:spcPts val="700"/>
              </a:spcAft>
              <a:buSzPct val="100000"/>
              <a:buChar char="•"/>
            </a:pPr>
            <a:r>
              <a:rPr lang="en-US" sz="1200" dirty="0">
                <a:solidFill>
                  <a:srgbClr val="FFFFFF"/>
                </a:solidFill>
                <a:latin typeface="Calibri" pitchFamily="34" charset="0"/>
                <a:ea typeface="Calibri" pitchFamily="34" charset="-122"/>
                <a:cs typeface="Calibri" pitchFamily="34" charset="-120"/>
              </a:rPr>
              <a:t>Pandas falls over past ~2 GB — single-threaded, eager loading</a:t>
            </a:r>
            <a:endParaRPr lang="en-US" sz="1200" dirty="0"/>
          </a:p>
          <a:p>
            <a:pPr marL="342900" indent="-342900">
              <a:spcAft>
                <a:spcPts val="700"/>
              </a:spcAft>
              <a:buSzPct val="100000"/>
              <a:buChar char="•"/>
            </a:pPr>
            <a:r>
              <a:rPr lang="en-US" sz="1200" dirty="0">
                <a:solidFill>
                  <a:srgbClr val="FFFFFF"/>
                </a:solidFill>
                <a:latin typeface="Calibri" pitchFamily="34" charset="0"/>
                <a:ea typeface="Calibri" pitchFamily="34" charset="-122"/>
                <a:cs typeface="Calibri" pitchFamily="34" charset="-120"/>
              </a:rPr>
              <a:t>Data did not scale to petabytes — but the tools did</a:t>
            </a:r>
            <a:endParaRPr lang="en-US" sz="1200" dirty="0"/>
          </a:p>
        </p:txBody>
      </p:sp>
      <p:sp>
        <p:nvSpPr>
          <p:cNvPr id="9" name="Shape 7"/>
          <p:cNvSpPr/>
          <p:nvPr/>
        </p:nvSpPr>
        <p:spPr>
          <a:xfrm>
            <a:off x="365760" y="4773168"/>
            <a:ext cx="8412480" cy="320040"/>
          </a:xfrm>
          <a:prstGeom prst="roundRect">
            <a:avLst>
              <a:gd name="adj" fmla="val 17143"/>
            </a:avLst>
          </a:prstGeom>
          <a:solidFill>
            <a:srgbClr val="FFB300"/>
          </a:solidFill>
          <a:ln/>
        </p:spPr>
      </p:sp>
      <p:sp>
        <p:nvSpPr>
          <p:cNvPr id="10" name="Text 8"/>
          <p:cNvSpPr/>
          <p:nvPr/>
        </p:nvSpPr>
        <p:spPr>
          <a:xfrm>
            <a:off x="365760" y="4773168"/>
            <a:ext cx="8412480" cy="320040"/>
          </a:xfrm>
          <a:prstGeom prst="rect">
            <a:avLst/>
          </a:prstGeom>
          <a:noFill/>
          <a:ln/>
        </p:spPr>
        <p:txBody>
          <a:bodyPr wrap="square" lIns="0" tIns="0" rIns="0" bIns="0" rtlCol="0" anchor="ctr"/>
          <a:lstStyle/>
          <a:p>
            <a:pPr algn="ctr" indent="0" marL="0">
              <a:buNone/>
            </a:pPr>
            <a:r>
              <a:rPr lang="en-US" sz="1200" b="1" dirty="0">
                <a:solidFill>
                  <a:srgbClr val="1B2A4A"/>
                </a:solidFill>
              </a:rPr>
              <a:t>DuckDB fills this gap: in-process, columnar, vectorized — no cluster needed, runs on the RAM you already have.</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4F6F9"/>
        </a:solidFill>
      </p:bgPr>
    </p:bg>
    <p:spTree>
      <p:nvGrpSpPr>
        <p:cNvPr id="1" name=""/>
        <p:cNvGrpSpPr/>
        <p:nvPr/>
      </p:nvGrpSpPr>
      <p:grpSpPr>
        <a:xfrm>
          <a:off x="0" y="0"/>
          <a:ext cx="0" cy="0"/>
          <a:chOff x="0" y="0"/>
          <a:chExt cx="0" cy="0"/>
        </a:xfrm>
      </p:grpSpPr>
      <p:sp>
        <p:nvSpPr>
          <p:cNvPr id="2" name="Shape 0"/>
          <p:cNvSpPr/>
          <p:nvPr/>
        </p:nvSpPr>
        <p:spPr>
          <a:xfrm>
            <a:off x="457200" y="256032"/>
            <a:ext cx="1920240" cy="347472"/>
          </a:xfrm>
          <a:prstGeom prst="roundRect">
            <a:avLst>
              <a:gd name="adj" fmla="val 13158"/>
            </a:avLst>
          </a:prstGeom>
          <a:solidFill>
            <a:srgbClr val="00897B"/>
          </a:solidFill>
          <a:ln/>
        </p:spPr>
      </p:sp>
      <p:sp>
        <p:nvSpPr>
          <p:cNvPr id="3" name="Text 1"/>
          <p:cNvSpPr/>
          <p:nvPr/>
        </p:nvSpPr>
        <p:spPr>
          <a:xfrm>
            <a:off x="457200" y="256032"/>
            <a:ext cx="1920240" cy="347472"/>
          </a:xfrm>
          <a:prstGeom prst="rect">
            <a:avLst/>
          </a:prstGeom>
          <a:noFill/>
          <a:ln/>
        </p:spPr>
        <p:txBody>
          <a:bodyPr wrap="square" lIns="0" tIns="0" rIns="0" bIns="0" rtlCol="0" anchor="ctr"/>
          <a:lstStyle/>
          <a:p>
            <a:pPr algn="ctr" indent="0" marL="0">
              <a:buNone/>
            </a:pPr>
            <a:r>
              <a:rPr lang="en-US" sz="900" b="1" dirty="0">
                <a:solidFill>
                  <a:srgbClr val="FFFFFF"/>
                </a:solidFill>
              </a:rPr>
              <a:t>DUCKDB</a:t>
            </a:r>
            <a:endParaRPr lang="en-US" sz="900" dirty="0"/>
          </a:p>
        </p:txBody>
      </p:sp>
      <p:sp>
        <p:nvSpPr>
          <p:cNvPr id="4" name="Text 2"/>
          <p:cNvSpPr/>
          <p:nvPr/>
        </p:nvSpPr>
        <p:spPr>
          <a:xfrm>
            <a:off x="457200" y="713232"/>
            <a:ext cx="8229600" cy="685800"/>
          </a:xfrm>
          <a:prstGeom prst="rect">
            <a:avLst/>
          </a:prstGeom>
          <a:noFill/>
          <a:ln/>
        </p:spPr>
        <p:txBody>
          <a:bodyPr wrap="square" rtlCol="0" anchor="ctr"/>
          <a:lstStyle/>
          <a:p>
            <a:pPr indent="0" marL="0">
              <a:buNone/>
            </a:pPr>
            <a:r>
              <a:rPr lang="en-US" sz="3200" b="1" dirty="0">
                <a:solidFill>
                  <a:srgbClr val="1B2A4A"/>
                </a:solidFill>
                <a:latin typeface="Cambria" pitchFamily="34" charset="0"/>
                <a:ea typeface="Cambria" pitchFamily="34" charset="-122"/>
                <a:cs typeface="Cambria" pitchFamily="34" charset="-120"/>
              </a:rPr>
              <a:t>What is DuckDB?</a:t>
            </a:r>
            <a:endParaRPr lang="en-US" sz="3200" dirty="0"/>
          </a:p>
        </p:txBody>
      </p:sp>
      <p:sp>
        <p:nvSpPr>
          <p:cNvPr id="5" name="Shape 3"/>
          <p:cNvSpPr/>
          <p:nvPr/>
        </p:nvSpPr>
        <p:spPr>
          <a:xfrm>
            <a:off x="365760" y="1463040"/>
            <a:ext cx="8412480" cy="658368"/>
          </a:xfrm>
          <a:prstGeom prst="roundRect">
            <a:avLst>
              <a:gd name="adj" fmla="val 11111"/>
            </a:avLst>
          </a:prstGeom>
          <a:solidFill>
            <a:srgbClr val="1B2A4A"/>
          </a:solidFill>
          <a:ln/>
        </p:spPr>
      </p:sp>
      <p:sp>
        <p:nvSpPr>
          <p:cNvPr id="6" name="Text 4"/>
          <p:cNvSpPr/>
          <p:nvPr/>
        </p:nvSpPr>
        <p:spPr>
          <a:xfrm>
            <a:off x="502920" y="1463040"/>
            <a:ext cx="8229600" cy="658368"/>
          </a:xfrm>
          <a:prstGeom prst="rect">
            <a:avLst/>
          </a:prstGeom>
          <a:noFill/>
          <a:ln/>
        </p:spPr>
        <p:txBody>
          <a:bodyPr wrap="square"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An in-process OLAP database engine — no server, no setup, runs embedded inside your application.</a:t>
            </a:r>
            <a:endParaRPr lang="en-US" sz="1500" dirty="0"/>
          </a:p>
        </p:txBody>
      </p:sp>
      <p:sp>
        <p:nvSpPr>
          <p:cNvPr id="7" name="Shape 5"/>
          <p:cNvSpPr/>
          <p:nvPr/>
        </p:nvSpPr>
        <p:spPr>
          <a:xfrm>
            <a:off x="365760" y="2286000"/>
            <a:ext cx="4023360" cy="841248"/>
          </a:xfrm>
          <a:prstGeom prst="roundRect">
            <a:avLst>
              <a:gd name="adj" fmla="val 8696"/>
            </a:avLst>
          </a:prstGeom>
          <a:solidFill>
            <a:srgbClr val="FFFFFF"/>
          </a:solidFill>
          <a:ln/>
          <a:effectLst>
            <a:outerShdw sx="100000" sy="100000" kx="0" ky="0" algn="bl" rotWithShape="0" blurRad="101600" dist="38100" dir="2700000">
              <a:srgbClr val="000000">
                <a:alpha val="12000"/>
              </a:srgbClr>
            </a:outerShdw>
          </a:effectLst>
        </p:spPr>
      </p:sp>
      <p:sp>
        <p:nvSpPr>
          <p:cNvPr id="8" name="Shape 6"/>
          <p:cNvSpPr/>
          <p:nvPr/>
        </p:nvSpPr>
        <p:spPr>
          <a:xfrm>
            <a:off x="502920" y="2542032"/>
            <a:ext cx="274320" cy="274320"/>
          </a:xfrm>
          <a:prstGeom prst="ellipse">
            <a:avLst/>
          </a:prstGeom>
          <a:solidFill>
            <a:srgbClr val="00897B"/>
          </a:solidFill>
          <a:ln/>
        </p:spPr>
      </p:sp>
      <p:sp>
        <p:nvSpPr>
          <p:cNvPr id="9" name="Text 7"/>
          <p:cNvSpPr/>
          <p:nvPr/>
        </p:nvSpPr>
        <p:spPr>
          <a:xfrm>
            <a:off x="914400" y="2377440"/>
            <a:ext cx="3383280" cy="292608"/>
          </a:xfrm>
          <a:prstGeom prst="rect">
            <a:avLst/>
          </a:prstGeom>
          <a:noFill/>
          <a:ln/>
        </p:spPr>
        <p:txBody>
          <a:bodyPr wrap="square" rtlCol="0" anchor="ctr"/>
          <a:lstStyle/>
          <a:p>
            <a:pPr indent="0" marL="0">
              <a:buNone/>
            </a:pPr>
            <a:r>
              <a:rPr lang="en-US" sz="1300" b="1" dirty="0">
                <a:solidFill>
                  <a:srgbClr val="1B2A4A"/>
                </a:solidFill>
                <a:latin typeface="Cambria" pitchFamily="34" charset="0"/>
                <a:ea typeface="Cambria" pitchFamily="34" charset="-122"/>
                <a:cs typeface="Cambria" pitchFamily="34" charset="-120"/>
              </a:rPr>
              <a:t>Columnar Storage</a:t>
            </a:r>
            <a:endParaRPr lang="en-US" sz="1300" dirty="0"/>
          </a:p>
        </p:txBody>
      </p:sp>
      <p:sp>
        <p:nvSpPr>
          <p:cNvPr id="10" name="Text 8"/>
          <p:cNvSpPr/>
          <p:nvPr/>
        </p:nvSpPr>
        <p:spPr>
          <a:xfrm>
            <a:off x="914400" y="2706624"/>
            <a:ext cx="3383280" cy="384048"/>
          </a:xfrm>
          <a:prstGeom prst="rect">
            <a:avLst/>
          </a:prstGeom>
          <a:noFill/>
          <a:ln/>
        </p:spPr>
        <p:txBody>
          <a:bodyPr wrap="square" rtlCol="0" anchor="ctr"/>
          <a:lstStyle/>
          <a:p>
            <a:pPr indent="0" marL="0">
              <a:buNone/>
            </a:pPr>
            <a:r>
              <a:rPr lang="en-US" sz="1100" dirty="0">
                <a:solidFill>
                  <a:srgbClr val="546E7A"/>
                </a:solidFill>
                <a:latin typeface="Calibri" pitchFamily="34" charset="0"/>
                <a:ea typeface="Calibri" pitchFamily="34" charset="-122"/>
                <a:cs typeface="Calibri" pitchFamily="34" charset="-120"/>
              </a:rPr>
              <a:t>Reads only the columns a query needs. Aggregating one column out of 50 means reading 2% of the data.</a:t>
            </a:r>
            <a:endParaRPr lang="en-US" sz="1100" dirty="0"/>
          </a:p>
        </p:txBody>
      </p:sp>
      <p:sp>
        <p:nvSpPr>
          <p:cNvPr id="11" name="Shape 9"/>
          <p:cNvSpPr/>
          <p:nvPr/>
        </p:nvSpPr>
        <p:spPr>
          <a:xfrm>
            <a:off x="4754880" y="2286000"/>
            <a:ext cx="4023360" cy="841248"/>
          </a:xfrm>
          <a:prstGeom prst="roundRect">
            <a:avLst>
              <a:gd name="adj" fmla="val 8696"/>
            </a:avLst>
          </a:prstGeom>
          <a:solidFill>
            <a:srgbClr val="FFFFFF"/>
          </a:solidFill>
          <a:ln/>
          <a:effectLst>
            <a:outerShdw sx="100000" sy="100000" kx="0" ky="0" algn="bl" rotWithShape="0" blurRad="101600" dist="38100" dir="2700000">
              <a:srgbClr val="000000">
                <a:alpha val="12000"/>
              </a:srgbClr>
            </a:outerShdw>
          </a:effectLst>
        </p:spPr>
      </p:sp>
      <p:sp>
        <p:nvSpPr>
          <p:cNvPr id="12" name="Shape 10"/>
          <p:cNvSpPr/>
          <p:nvPr/>
        </p:nvSpPr>
        <p:spPr>
          <a:xfrm>
            <a:off x="4892040" y="2542032"/>
            <a:ext cx="274320" cy="274320"/>
          </a:xfrm>
          <a:prstGeom prst="ellipse">
            <a:avLst/>
          </a:prstGeom>
          <a:solidFill>
            <a:srgbClr val="00897B"/>
          </a:solidFill>
          <a:ln/>
        </p:spPr>
      </p:sp>
      <p:sp>
        <p:nvSpPr>
          <p:cNvPr id="13" name="Text 11"/>
          <p:cNvSpPr/>
          <p:nvPr/>
        </p:nvSpPr>
        <p:spPr>
          <a:xfrm>
            <a:off x="5303520" y="2377440"/>
            <a:ext cx="3383280" cy="292608"/>
          </a:xfrm>
          <a:prstGeom prst="rect">
            <a:avLst/>
          </a:prstGeom>
          <a:noFill/>
          <a:ln/>
        </p:spPr>
        <p:txBody>
          <a:bodyPr wrap="square" rtlCol="0" anchor="ctr"/>
          <a:lstStyle/>
          <a:p>
            <a:pPr indent="0" marL="0">
              <a:buNone/>
            </a:pPr>
            <a:r>
              <a:rPr lang="en-US" sz="1300" b="1" dirty="0">
                <a:solidFill>
                  <a:srgbClr val="1B2A4A"/>
                </a:solidFill>
                <a:latin typeface="Cambria" pitchFamily="34" charset="0"/>
                <a:ea typeface="Cambria" pitchFamily="34" charset="-122"/>
                <a:cs typeface="Cambria" pitchFamily="34" charset="-120"/>
              </a:rPr>
              <a:t>Vectorized Execution</a:t>
            </a:r>
            <a:endParaRPr lang="en-US" sz="1300" dirty="0"/>
          </a:p>
        </p:txBody>
      </p:sp>
      <p:sp>
        <p:nvSpPr>
          <p:cNvPr id="14" name="Text 12"/>
          <p:cNvSpPr/>
          <p:nvPr/>
        </p:nvSpPr>
        <p:spPr>
          <a:xfrm>
            <a:off x="5303520" y="2706624"/>
            <a:ext cx="3383280" cy="384048"/>
          </a:xfrm>
          <a:prstGeom prst="rect">
            <a:avLst/>
          </a:prstGeom>
          <a:noFill/>
          <a:ln/>
        </p:spPr>
        <p:txBody>
          <a:bodyPr wrap="square" rtlCol="0" anchor="ctr"/>
          <a:lstStyle/>
          <a:p>
            <a:pPr indent="0" marL="0">
              <a:buNone/>
            </a:pPr>
            <a:r>
              <a:rPr lang="en-US" sz="1100" dirty="0">
                <a:solidFill>
                  <a:srgbClr val="546E7A"/>
                </a:solidFill>
                <a:latin typeface="Calibri" pitchFamily="34" charset="0"/>
                <a:ea typeface="Calibri" pitchFamily="34" charset="-122"/>
                <a:cs typeface="Calibri" pitchFamily="34" charset="-120"/>
              </a:rPr>
              <a:t>Processes 1024 rows at once using CPU SIMD instructions — same approach as Snowflake and BigQuery.</a:t>
            </a:r>
            <a:endParaRPr lang="en-US" sz="1100" dirty="0"/>
          </a:p>
        </p:txBody>
      </p:sp>
      <p:sp>
        <p:nvSpPr>
          <p:cNvPr id="15" name="Shape 13"/>
          <p:cNvSpPr/>
          <p:nvPr/>
        </p:nvSpPr>
        <p:spPr>
          <a:xfrm>
            <a:off x="365760" y="3246120"/>
            <a:ext cx="4023360" cy="841248"/>
          </a:xfrm>
          <a:prstGeom prst="roundRect">
            <a:avLst>
              <a:gd name="adj" fmla="val 8696"/>
            </a:avLst>
          </a:prstGeom>
          <a:solidFill>
            <a:srgbClr val="FFFFFF"/>
          </a:solidFill>
          <a:ln/>
          <a:effectLst>
            <a:outerShdw sx="100000" sy="100000" kx="0" ky="0" algn="bl" rotWithShape="0" blurRad="101600" dist="38100" dir="2700000">
              <a:srgbClr val="000000">
                <a:alpha val="12000"/>
              </a:srgbClr>
            </a:outerShdw>
          </a:effectLst>
        </p:spPr>
      </p:sp>
      <p:sp>
        <p:nvSpPr>
          <p:cNvPr id="16" name="Shape 14"/>
          <p:cNvSpPr/>
          <p:nvPr/>
        </p:nvSpPr>
        <p:spPr>
          <a:xfrm>
            <a:off x="502920" y="3502152"/>
            <a:ext cx="274320" cy="274320"/>
          </a:xfrm>
          <a:prstGeom prst="ellipse">
            <a:avLst/>
          </a:prstGeom>
          <a:solidFill>
            <a:srgbClr val="00897B"/>
          </a:solidFill>
          <a:ln/>
        </p:spPr>
      </p:sp>
      <p:sp>
        <p:nvSpPr>
          <p:cNvPr id="17" name="Text 15"/>
          <p:cNvSpPr/>
          <p:nvPr/>
        </p:nvSpPr>
        <p:spPr>
          <a:xfrm>
            <a:off x="914400" y="3337560"/>
            <a:ext cx="3383280" cy="292608"/>
          </a:xfrm>
          <a:prstGeom prst="rect">
            <a:avLst/>
          </a:prstGeom>
          <a:noFill/>
          <a:ln/>
        </p:spPr>
        <p:txBody>
          <a:bodyPr wrap="square" rtlCol="0" anchor="ctr"/>
          <a:lstStyle/>
          <a:p>
            <a:pPr indent="0" marL="0">
              <a:buNone/>
            </a:pPr>
            <a:r>
              <a:rPr lang="en-US" sz="1300" b="1" dirty="0">
                <a:solidFill>
                  <a:srgbClr val="1B2A4A"/>
                </a:solidFill>
                <a:latin typeface="Cambria" pitchFamily="34" charset="0"/>
                <a:ea typeface="Cambria" pitchFamily="34" charset="-122"/>
                <a:cs typeface="Cambria" pitchFamily="34" charset="-120"/>
              </a:rPr>
              <a:t>Zero Infrastructure</a:t>
            </a:r>
            <a:endParaRPr lang="en-US" sz="1300" dirty="0"/>
          </a:p>
        </p:txBody>
      </p:sp>
      <p:sp>
        <p:nvSpPr>
          <p:cNvPr id="18" name="Text 16"/>
          <p:cNvSpPr/>
          <p:nvPr/>
        </p:nvSpPr>
        <p:spPr>
          <a:xfrm>
            <a:off x="914400" y="3666744"/>
            <a:ext cx="3383280" cy="384048"/>
          </a:xfrm>
          <a:prstGeom prst="rect">
            <a:avLst/>
          </a:prstGeom>
          <a:noFill/>
          <a:ln/>
        </p:spPr>
        <p:txBody>
          <a:bodyPr wrap="square" rtlCol="0" anchor="ctr"/>
          <a:lstStyle/>
          <a:p>
            <a:pPr indent="0" marL="0">
              <a:buNone/>
            </a:pPr>
            <a:r>
              <a:rPr lang="en-US" sz="1100" dirty="0">
                <a:solidFill>
                  <a:srgbClr val="546E7A"/>
                </a:solidFill>
                <a:latin typeface="Calibri" pitchFamily="34" charset="0"/>
                <a:ea typeface="Calibri" pitchFamily="34" charset="-122"/>
                <a:cs typeface="Calibri" pitchFamily="34" charset="-120"/>
              </a:rPr>
              <a:t>pip install duckdb. No Docker, no cluster, no config. Works wherever Python or R runs.</a:t>
            </a:r>
            <a:endParaRPr lang="en-US" sz="1100" dirty="0"/>
          </a:p>
        </p:txBody>
      </p:sp>
      <p:sp>
        <p:nvSpPr>
          <p:cNvPr id="19" name="Shape 17"/>
          <p:cNvSpPr/>
          <p:nvPr/>
        </p:nvSpPr>
        <p:spPr>
          <a:xfrm>
            <a:off x="4754880" y="3246120"/>
            <a:ext cx="4023360" cy="841248"/>
          </a:xfrm>
          <a:prstGeom prst="roundRect">
            <a:avLst>
              <a:gd name="adj" fmla="val 8696"/>
            </a:avLst>
          </a:prstGeom>
          <a:solidFill>
            <a:srgbClr val="FFFFFF"/>
          </a:solidFill>
          <a:ln/>
          <a:effectLst>
            <a:outerShdw sx="100000" sy="100000" kx="0" ky="0" algn="bl" rotWithShape="0" blurRad="101600" dist="38100" dir="2700000">
              <a:srgbClr val="000000">
                <a:alpha val="12000"/>
              </a:srgbClr>
            </a:outerShdw>
          </a:effectLst>
        </p:spPr>
      </p:sp>
      <p:sp>
        <p:nvSpPr>
          <p:cNvPr id="20" name="Shape 18"/>
          <p:cNvSpPr/>
          <p:nvPr/>
        </p:nvSpPr>
        <p:spPr>
          <a:xfrm>
            <a:off x="4892040" y="3502152"/>
            <a:ext cx="274320" cy="274320"/>
          </a:xfrm>
          <a:prstGeom prst="ellipse">
            <a:avLst/>
          </a:prstGeom>
          <a:solidFill>
            <a:srgbClr val="00897B"/>
          </a:solidFill>
          <a:ln/>
        </p:spPr>
      </p:sp>
      <p:sp>
        <p:nvSpPr>
          <p:cNvPr id="21" name="Text 19"/>
          <p:cNvSpPr/>
          <p:nvPr/>
        </p:nvSpPr>
        <p:spPr>
          <a:xfrm>
            <a:off x="5303520" y="3337560"/>
            <a:ext cx="3383280" cy="292608"/>
          </a:xfrm>
          <a:prstGeom prst="rect">
            <a:avLst/>
          </a:prstGeom>
          <a:noFill/>
          <a:ln/>
        </p:spPr>
        <p:txBody>
          <a:bodyPr wrap="square" rtlCol="0" anchor="ctr"/>
          <a:lstStyle/>
          <a:p>
            <a:pPr indent="0" marL="0">
              <a:buNone/>
            </a:pPr>
            <a:r>
              <a:rPr lang="en-US" sz="1300" b="1" dirty="0">
                <a:solidFill>
                  <a:srgbClr val="1B2A4A"/>
                </a:solidFill>
                <a:latin typeface="Cambria" pitchFamily="34" charset="0"/>
                <a:ea typeface="Cambria" pitchFamily="34" charset="-122"/>
                <a:cs typeface="Cambria" pitchFamily="34" charset="-120"/>
              </a:rPr>
              <a:t>Reads Everything</a:t>
            </a:r>
            <a:endParaRPr lang="en-US" sz="1300" dirty="0"/>
          </a:p>
        </p:txBody>
      </p:sp>
      <p:sp>
        <p:nvSpPr>
          <p:cNvPr id="22" name="Text 20"/>
          <p:cNvSpPr/>
          <p:nvPr/>
        </p:nvSpPr>
        <p:spPr>
          <a:xfrm>
            <a:off x="5303520" y="3666744"/>
            <a:ext cx="3383280" cy="384048"/>
          </a:xfrm>
          <a:prstGeom prst="rect">
            <a:avLst/>
          </a:prstGeom>
          <a:noFill/>
          <a:ln/>
        </p:spPr>
        <p:txBody>
          <a:bodyPr wrap="square" rtlCol="0" anchor="ctr"/>
          <a:lstStyle/>
          <a:p>
            <a:pPr indent="0" marL="0">
              <a:buNone/>
            </a:pPr>
            <a:r>
              <a:rPr lang="en-US" sz="1100" dirty="0">
                <a:solidFill>
                  <a:srgbClr val="546E7A"/>
                </a:solidFill>
                <a:latin typeface="Calibri" pitchFamily="34" charset="0"/>
                <a:ea typeface="Calibri" pitchFamily="34" charset="-122"/>
                <a:cs typeface="Calibri" pitchFamily="34" charset="-120"/>
              </a:rPr>
              <a:t>CSV, Parquet, JSON, S3 paths, and Pandas DataFrames — no ETL load step required.</a:t>
            </a:r>
            <a:endParaRPr lang="en-US" sz="1100" dirty="0"/>
          </a:p>
        </p:txBody>
      </p:sp>
      <p:sp>
        <p:nvSpPr>
          <p:cNvPr id="23" name="Shape 21"/>
          <p:cNvSpPr/>
          <p:nvPr/>
        </p:nvSpPr>
        <p:spPr>
          <a:xfrm>
            <a:off x="365760" y="4206240"/>
            <a:ext cx="4023360" cy="841248"/>
          </a:xfrm>
          <a:prstGeom prst="roundRect">
            <a:avLst>
              <a:gd name="adj" fmla="val 8696"/>
            </a:avLst>
          </a:prstGeom>
          <a:solidFill>
            <a:srgbClr val="FFFFFF"/>
          </a:solidFill>
          <a:ln/>
          <a:effectLst>
            <a:outerShdw sx="100000" sy="100000" kx="0" ky="0" algn="bl" rotWithShape="0" blurRad="101600" dist="38100" dir="2700000">
              <a:srgbClr val="000000">
                <a:alpha val="12000"/>
              </a:srgbClr>
            </a:outerShdw>
          </a:effectLst>
        </p:spPr>
      </p:sp>
      <p:sp>
        <p:nvSpPr>
          <p:cNvPr id="24" name="Shape 22"/>
          <p:cNvSpPr/>
          <p:nvPr/>
        </p:nvSpPr>
        <p:spPr>
          <a:xfrm>
            <a:off x="502920" y="4462272"/>
            <a:ext cx="274320" cy="274320"/>
          </a:xfrm>
          <a:prstGeom prst="ellipse">
            <a:avLst/>
          </a:prstGeom>
          <a:solidFill>
            <a:srgbClr val="00897B"/>
          </a:solidFill>
          <a:ln/>
        </p:spPr>
      </p:sp>
      <p:sp>
        <p:nvSpPr>
          <p:cNvPr id="25" name="Text 23"/>
          <p:cNvSpPr/>
          <p:nvPr/>
        </p:nvSpPr>
        <p:spPr>
          <a:xfrm>
            <a:off x="914400" y="4297680"/>
            <a:ext cx="3383280" cy="292608"/>
          </a:xfrm>
          <a:prstGeom prst="rect">
            <a:avLst/>
          </a:prstGeom>
          <a:noFill/>
          <a:ln/>
        </p:spPr>
        <p:txBody>
          <a:bodyPr wrap="square" rtlCol="0" anchor="ctr"/>
          <a:lstStyle/>
          <a:p>
            <a:pPr indent="0" marL="0">
              <a:buNone/>
            </a:pPr>
            <a:r>
              <a:rPr lang="en-US" sz="1300" b="1" dirty="0">
                <a:solidFill>
                  <a:srgbClr val="1B2A4A"/>
                </a:solidFill>
                <a:latin typeface="Cambria" pitchFamily="34" charset="0"/>
                <a:ea typeface="Cambria" pitchFamily="34" charset="-122"/>
                <a:cs typeface="Cambria" pitchFamily="34" charset="-120"/>
              </a:rPr>
              <a:t>Full ANSI SQL</a:t>
            </a:r>
            <a:endParaRPr lang="en-US" sz="1300" dirty="0"/>
          </a:p>
        </p:txBody>
      </p:sp>
      <p:sp>
        <p:nvSpPr>
          <p:cNvPr id="26" name="Text 24"/>
          <p:cNvSpPr/>
          <p:nvPr/>
        </p:nvSpPr>
        <p:spPr>
          <a:xfrm>
            <a:off x="914400" y="4626864"/>
            <a:ext cx="3383280" cy="384048"/>
          </a:xfrm>
          <a:prstGeom prst="rect">
            <a:avLst/>
          </a:prstGeom>
          <a:noFill/>
          <a:ln/>
        </p:spPr>
        <p:txBody>
          <a:bodyPr wrap="square" rtlCol="0" anchor="ctr"/>
          <a:lstStyle/>
          <a:p>
            <a:pPr indent="0" marL="0">
              <a:buNone/>
            </a:pPr>
            <a:r>
              <a:rPr lang="en-US" sz="1100" dirty="0">
                <a:solidFill>
                  <a:srgbClr val="546E7A"/>
                </a:solidFill>
                <a:latin typeface="Calibri" pitchFamily="34" charset="0"/>
                <a:ea typeface="Calibri" pitchFamily="34" charset="-122"/>
                <a:cs typeface="Calibri" pitchFamily="34" charset="-120"/>
              </a:rPr>
              <a:t>Window functions, CTEs, JOINs, regex — nothing proprietary to learn.</a:t>
            </a:r>
            <a:endParaRPr lang="en-US" sz="1100" dirty="0"/>
          </a:p>
        </p:txBody>
      </p:sp>
      <p:sp>
        <p:nvSpPr>
          <p:cNvPr id="27" name="Shape 25"/>
          <p:cNvSpPr/>
          <p:nvPr/>
        </p:nvSpPr>
        <p:spPr>
          <a:xfrm>
            <a:off x="4754880" y="4206240"/>
            <a:ext cx="4023360" cy="841248"/>
          </a:xfrm>
          <a:prstGeom prst="roundRect">
            <a:avLst>
              <a:gd name="adj" fmla="val 8696"/>
            </a:avLst>
          </a:prstGeom>
          <a:solidFill>
            <a:srgbClr val="FFFFFF"/>
          </a:solidFill>
          <a:ln/>
          <a:effectLst>
            <a:outerShdw sx="100000" sy="100000" kx="0" ky="0" algn="bl" rotWithShape="0" blurRad="101600" dist="38100" dir="2700000">
              <a:srgbClr val="000000">
                <a:alpha val="12000"/>
              </a:srgbClr>
            </a:outerShdw>
          </a:effectLst>
        </p:spPr>
      </p:sp>
      <p:sp>
        <p:nvSpPr>
          <p:cNvPr id="28" name="Shape 26"/>
          <p:cNvSpPr/>
          <p:nvPr/>
        </p:nvSpPr>
        <p:spPr>
          <a:xfrm>
            <a:off x="4892040" y="4462272"/>
            <a:ext cx="274320" cy="274320"/>
          </a:xfrm>
          <a:prstGeom prst="ellipse">
            <a:avLst/>
          </a:prstGeom>
          <a:solidFill>
            <a:srgbClr val="00897B"/>
          </a:solidFill>
          <a:ln/>
        </p:spPr>
      </p:sp>
      <p:sp>
        <p:nvSpPr>
          <p:cNvPr id="29" name="Text 27"/>
          <p:cNvSpPr/>
          <p:nvPr/>
        </p:nvSpPr>
        <p:spPr>
          <a:xfrm>
            <a:off x="5303520" y="4297680"/>
            <a:ext cx="3383280" cy="292608"/>
          </a:xfrm>
          <a:prstGeom prst="rect">
            <a:avLst/>
          </a:prstGeom>
          <a:noFill/>
          <a:ln/>
        </p:spPr>
        <p:txBody>
          <a:bodyPr wrap="square" rtlCol="0" anchor="ctr"/>
          <a:lstStyle/>
          <a:p>
            <a:pPr indent="0" marL="0">
              <a:buNone/>
            </a:pPr>
            <a:r>
              <a:rPr lang="en-US" sz="1300" b="1" dirty="0">
                <a:solidFill>
                  <a:srgbClr val="1B2A4A"/>
                </a:solidFill>
                <a:latin typeface="Cambria" pitchFamily="34" charset="0"/>
                <a:ea typeface="Cambria" pitchFamily="34" charset="-122"/>
                <a:cs typeface="Cambria" pitchFamily="34" charset="-120"/>
              </a:rPr>
              <a:t>Production Ready</a:t>
            </a:r>
            <a:endParaRPr lang="en-US" sz="1300" dirty="0"/>
          </a:p>
        </p:txBody>
      </p:sp>
      <p:sp>
        <p:nvSpPr>
          <p:cNvPr id="30" name="Text 28"/>
          <p:cNvSpPr/>
          <p:nvPr/>
        </p:nvSpPr>
        <p:spPr>
          <a:xfrm>
            <a:off x="5303520" y="4626864"/>
            <a:ext cx="3383280" cy="384048"/>
          </a:xfrm>
          <a:prstGeom prst="rect">
            <a:avLst/>
          </a:prstGeom>
          <a:noFill/>
          <a:ln/>
        </p:spPr>
        <p:txBody>
          <a:bodyPr wrap="square" rtlCol="0" anchor="ctr"/>
          <a:lstStyle/>
          <a:p>
            <a:pPr indent="0" marL="0">
              <a:buNone/>
            </a:pPr>
            <a:r>
              <a:rPr lang="en-US" sz="1100" dirty="0">
                <a:solidFill>
                  <a:srgbClr val="546E7A"/>
                </a:solidFill>
                <a:latin typeface="Calibri" pitchFamily="34" charset="0"/>
                <a:ea typeface="Calibri" pitchFamily="34" charset="-122"/>
                <a:cs typeface="Calibri" pitchFamily="34" charset="-120"/>
              </a:rPr>
              <a:t>Open source (MIT). Developed at CWI Amsterdam. v1.0 shipped in 2024 — not a research project.</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Slides>
  <Notes>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vt:i4>
      </vt:variant>
    </vt:vector>
  </HeadingPairs>
  <TitlesOfParts>
    <vt:vector size="6" baseType="lpstr">
      <vt:lpstr>Arial</vt:lpstr>
      <vt:lpstr>Calibri</vt:lpstr>
      <vt:lpstr>Office Theme</vt:lpstr>
      <vt:lpstr>Slide 1</vt:lpstr>
      <vt:lpstr>Slide 2</vt:lpstr>
      <vt:lpstr>Slide 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2026-06-12T13:21:00Z</dcterms:created>
  <dcterms:modified xsi:type="dcterms:W3CDTF">2026-06-12T13:21:00Z</dcterms:modified>
</cp:coreProperties>
</file>